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Written deck, no presenter. The cover states the paradox (healthy + bleeding) and promises a payoff.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 (BLUF). Everything after this is evidence, in the case's A-E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frame the 'why' section as a hunt for the real culprit, and pre-highlight stockouts.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let the reader reach the 'build a hub' conclusion — then dismantle it on S5. The ponder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aha — the analytical and emotional center. The reader does the math and feels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Payoff of S3: the reader proposed the hub; the data talks them out of it. Trust is 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handicapped the hub generously (50% margin) and discounted our own plan (30%) — Fix-Ops still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Resolves the 'do everything' trap the case penalizes. One real investment + a near-free hedge + a gated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Highest-weighted criterion (×5): real workflow, real tools, human-in-the-loop.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credibility spike — the slide no other team can fake.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Directly answers Q4 and proves we read every exhibit, not just the convenient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Q2 fully answered: where (Cebu via 3PL) and when (only when the unit economics earn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is scored. Discounting our own upside is what makes the number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Pre-empts the toughest finance question before a judge can raise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Month-7 diamond is the proof of discipline the case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Red-team + impact + payoff line that ties back to the cover. The engine,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in the exact tools your team used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Upload PopCart_Reorder_System.xlsx to Google Sheets to demo live if you reach the semifinal.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assumptions clearly and disclose AI — both explicitly rewarded by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A929B"/>
                </a:solidFill>
                <a:latin typeface="Arial"/>
              </a:rPr>
              <a:t>POPCART PH   ·   LAMBO 2026 QUALIFYING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FIX THE </a:t>
            </a:r>
            <a:r>
              <a:rPr sz="4400" b="1" i="0">
                <a:solidFill>
                  <a:srgbClr val="C3F53C"/>
                </a:solidFill>
                <a:latin typeface="Arial"/>
              </a:rPr>
              <a:t>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61488"/>
            <a:ext cx="11338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BEFORE YOU GROW THE BODY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" y="4041648"/>
            <a:ext cx="2194560" cy="457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ECEFF2"/>
                </a:solidFill>
                <a:latin typeface="Arial"/>
              </a:rPr>
              <a:t>PopCart is profitable, viral, and growing fast — ₱120M in sales at a 9% margin (Exhibit A) — and quietly losing two-thirds of its profit to a leak no one is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1">
                <a:solidFill>
                  <a:srgbClr val="F39C12"/>
                </a:solidFill>
                <a:latin typeface="Arial"/>
              </a:rPr>
              <a:t>Here's where the money goes — and the cheapest way to stop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3620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8A929B"/>
                </a:solidFill>
                <a:latin typeface="Arial"/>
              </a:rPr>
              <a:t>[School Name]   ·   [Team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3F53C"/>
                </a:solidFill>
                <a:latin typeface="Arial"/>
              </a:rPr>
              <a:t>A · STRATEGIC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THE </a:t>
            </a:r>
            <a:r>
              <a:rPr sz="3100" b="1">
                <a:solidFill>
                  <a:srgbClr val="C3F53C"/>
                </a:solidFill>
                <a:latin typeface="Arial"/>
              </a:rPr>
              <a:t>BOTTOM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If you read one slide, read this one — the entire case in five answers.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2057400"/>
            <a:ext cx="11155680" cy="658368"/>
          </a:xfrm>
          <a:prstGeom prst="roundRect">
            <a:avLst/>
          </a:prstGeom>
          <a:solidFill>
            <a:srgbClr val="16212E"/>
          </a:solidFill>
          <a:ln w="19050">
            <a:solidFill>
              <a:srgbClr val="C3F5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>
                <a:solidFill>
                  <a:srgbClr val="C3F53C"/>
                </a:solidFill>
                <a:latin typeface="Arial"/>
              </a:rPr>
              <a:t>OUR CALL:  </a:t>
            </a:r>
            <a:r>
              <a:rPr sz="1400" b="1" i="0">
                <a:solidFill>
                  <a:srgbClr val="ECEFF2"/>
                </a:solidFill>
                <a:latin typeface="Arial"/>
              </a:rPr>
              <a:t>Fix operations first. Expand only in sequence — never all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F53C"/>
                </a:solidFill>
                <a:latin typeface="Arial"/>
              </a:rPr>
              <a:t>Q1 · Biggest problem     </a:t>
            </a:r>
            <a:r>
              <a:rPr sz="1300" b="0" i="0">
                <a:solidFill>
                  <a:srgbClr val="D6DBE0"/>
                </a:solidFill>
                <a:latin typeface="Arial"/>
              </a:rPr>
              <a:t>Stockouts — ₱7.35M/yr in lost gross profit, not shipping  (Exhibit 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47288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F53C"/>
                </a:solidFill>
                <a:latin typeface="Arial"/>
              </a:rPr>
              <a:t>Q2 · Where to expand     </a:t>
            </a:r>
            <a:r>
              <a:rPr sz="1300" b="0" i="0">
                <a:solidFill>
                  <a:srgbClr val="D6DBE0"/>
                </a:solidFill>
                <a:latin typeface="Arial"/>
              </a:rPr>
              <a:t>Nowhere yet — fix ops online; a Cebu 3PL is gated to Month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22776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F53C"/>
                </a:solidFill>
                <a:latin typeface="Arial"/>
              </a:rPr>
              <a:t>Q3 · The tool     </a:t>
            </a:r>
            <a:r>
              <a:rPr sz="1300" b="0" i="0">
                <a:solidFill>
                  <a:srgbClr val="D6DBE0"/>
                </a:solidFill>
                <a:latin typeface="Arial"/>
              </a:rPr>
              <a:t>A simple dashboard that gives earlier reorder warnings  (improves Exhibit 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98264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F53C"/>
                </a:solidFill>
                <a:latin typeface="Arial"/>
              </a:rPr>
              <a:t>Q4 · The impact     </a:t>
            </a:r>
            <a:r>
              <a:rPr sz="1300" b="0" i="0">
                <a:solidFill>
                  <a:srgbClr val="D6DBE0"/>
                </a:solidFill>
                <a:latin typeface="Arial"/>
              </a:rPr>
              <a:t>Stockout days 11 → ~6/mo; inventory updates 2×/day → every 2h  (Exhibit C/D)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7375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3F53C"/>
                </a:solidFill>
                <a:latin typeface="Arial"/>
              </a:rPr>
              <a:t>Q5 · Worth it?     </a:t>
            </a:r>
            <a:r>
              <a:rPr sz="1300" b="0" i="0">
                <a:solidFill>
                  <a:srgbClr val="D6DBE0"/>
                </a:solidFill>
                <a:latin typeface="Arial"/>
              </a:rPr>
              <a:t>Adds ₱1.0–1.6M recurring benefit/yr; ₱1.4M setup; ~13–20 mo payback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7" y="5440680"/>
            <a:ext cx="11155680" cy="548640"/>
          </a:xfrm>
          <a:prstGeom prst="roundRect">
            <a:avLst/>
          </a:prstGeom>
          <a:solidFill>
            <a:srgbClr val="1E2A3A"/>
          </a:solidFill>
          <a:ln w="1270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513832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  <a:latin typeface="Arial"/>
              </a:rPr>
              <a:t>₱7.35M</a:t>
            </a:r>
            <a:r>
              <a:rPr sz="1300" b="0" i="0">
                <a:solidFill>
                  <a:srgbClr val="8A929B"/>
                </a:solidFill>
                <a:latin typeface="Arial"/>
              </a:rPr>
              <a:t> gross-profit leak  ·  </a:t>
            </a:r>
            <a:r>
              <a:rPr sz="1500" b="1" i="0">
                <a:solidFill>
                  <a:srgbClr val="2ECC71"/>
                </a:solidFill>
                <a:latin typeface="Arial"/>
              </a:rPr>
              <a:t>+₱0.20M</a:t>
            </a:r>
            <a:r>
              <a:rPr sz="1300" b="0" i="0">
                <a:solidFill>
                  <a:srgbClr val="8A929B"/>
                </a:solidFill>
                <a:latin typeface="Arial"/>
              </a:rPr>
              <a:t> cautious recurring floor  ·  </a:t>
            </a:r>
            <a:r>
              <a:rPr sz="1500" b="1" i="0">
                <a:solidFill>
                  <a:srgbClr val="5B9BD5"/>
                </a:solidFill>
                <a:latin typeface="Arial"/>
              </a:rPr>
              <a:t>13–20 mo</a:t>
            </a:r>
            <a:r>
              <a:rPr sz="1300" b="0" i="0">
                <a:solidFill>
                  <a:srgbClr val="8A929B"/>
                </a:solidFill>
                <a:latin typeface="Arial"/>
              </a:rPr>
              <a:t> payback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B9BD5"/>
                </a:solidFill>
                <a:latin typeface="Arial"/>
              </a:rPr>
              <a:t>B · WHY IT MAKES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FIVE PROBLEMS, </a:t>
            </a:r>
            <a:r>
              <a:rPr sz="3100" b="1">
                <a:solidFill>
                  <a:srgbClr val="C3F53C"/>
                </a:solidFill>
                <a:latin typeface="Arial"/>
              </a:rPr>
              <a:t>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Before choosing a fix, we asked a sharper question: which problem is quietly the most expensive?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2148840"/>
            <a:ext cx="11155680" cy="548640"/>
          </a:xfrm>
          <a:prstGeom prst="round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8A929B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9456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D6DBE0"/>
                </a:solidFill>
                <a:latin typeface="Arial"/>
              </a:rPr>
              <a:t>Shipping to Visayas / Mindanao is costly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D6DBE0"/>
                </a:solidFill>
                <a:latin typeface="Arial"/>
              </a:rPr>
              <a:t>₱155 / ₱185 per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2194560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5B9BD5"/>
                </a:solidFill>
                <a:latin typeface="Arial"/>
              </a:rPr>
              <a:t>Exhibit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7" y="2752344"/>
            <a:ext cx="11155680" cy="548640"/>
          </a:xfrm>
          <a:prstGeom prst="round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8A929B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798064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D6DBE0"/>
                </a:solidFill>
                <a:latin typeface="Arial"/>
              </a:rPr>
              <a:t>Delivery is slow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798064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D6DBE0"/>
                </a:solidFill>
                <a:latin typeface="Arial"/>
              </a:rPr>
              <a:t>5–7 days (Cebu), 7–10 days (Davao)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2798064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5B9BD5"/>
                </a:solidFill>
                <a:latin typeface="Arial"/>
              </a:rPr>
              <a:t>Exhibit 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" y="3355848"/>
            <a:ext cx="11155680" cy="548640"/>
          </a:xfrm>
          <a:prstGeom prst="round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015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8A929B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01568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D6DBE0"/>
                </a:solidFill>
                <a:latin typeface="Arial"/>
              </a:rPr>
              <a:t>Products arrive damaged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401568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D6DBE0"/>
                </a:solidFill>
                <a:latin typeface="Arial"/>
              </a:rPr>
              <a:t>4.2% / 5.0% return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3401568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5B9BD5"/>
                </a:solidFill>
                <a:latin typeface="Arial"/>
              </a:rPr>
              <a:t>Exhibit 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" y="3959352"/>
            <a:ext cx="11155680" cy="54864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0050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C3F53C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005072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ECEFF2"/>
                </a:solidFill>
                <a:latin typeface="Arial"/>
              </a:rPr>
              <a:t>Stockouts on viral best-sellers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4005072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D6DBE0"/>
                </a:solidFill>
                <a:latin typeface="Arial"/>
              </a:rPr>
              <a:t>out of stock up to 11 days/mo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4005072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5B9BD5"/>
                </a:solidFill>
                <a:latin typeface="Arial"/>
              </a:rPr>
              <a:t>Exhibit 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7" y="4562856"/>
            <a:ext cx="11155680" cy="548640"/>
          </a:xfrm>
          <a:prstGeom prst="round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085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8A929B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608576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D6DBE0"/>
                </a:solidFill>
                <a:latin typeface="Arial"/>
              </a:rPr>
              <a:t>90% of sales on one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4608576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D6DBE0"/>
                </a:solidFill>
                <a:latin typeface="Arial"/>
              </a:rPr>
              <a:t>TikTok Shop dependence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608576"/>
            <a:ext cx="1097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 i="0">
                <a:solidFill>
                  <a:srgbClr val="5B9BD5"/>
                </a:solidFill>
                <a:latin typeface="Arial"/>
              </a:rPr>
              <a:t>Exhibit 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580644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 i="1">
                <a:solidFill>
                  <a:srgbClr val="ECEFF2"/>
                </a:solidFill>
                <a:latin typeface="Arial"/>
              </a:rPr>
              <a:t>Shipping is the loudest cost. Stockouts are the quietest quantified opportunity — and the cheapest first move to test.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B9BD5"/>
                </a:solidFill>
                <a:latin typeface="Arial"/>
              </a:rPr>
              <a:t>B · WHY IT MAKES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FOLLOW THE </a:t>
            </a:r>
            <a:r>
              <a:rPr sz="3100" b="1">
                <a:solidFill>
                  <a:srgbClr val="C3F53C"/>
                </a:solidFill>
                <a:latin typeface="Arial"/>
              </a:rPr>
              <a:t>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Read Exhibit A with us — where does PopCart's ₱120M actually go?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ECEFF2"/>
                </a:solidFill>
                <a:latin typeface="Arial"/>
              </a:rPr>
              <a:t>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9456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50" b="1" i="0">
                <a:solidFill>
                  <a:srgbClr val="ECEFF2"/>
                </a:solidFill>
                <a:latin typeface="Arial"/>
              </a:rPr>
              <a:t>₱120.0M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8A929B"/>
                </a:solidFill>
                <a:latin typeface="Arial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D6DBE0"/>
                </a:solidFill>
                <a:latin typeface="Arial"/>
              </a:rPr>
              <a:t>− Cost of goods sold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9748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50" b="1" i="0">
                <a:solidFill>
                  <a:srgbClr val="D6DBE0"/>
                </a:solidFill>
                <a:latin typeface="Arial"/>
              </a:rPr>
              <a:t>(₱60.0M)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8A929B"/>
                </a:solidFill>
                <a:latin typeface="Arial"/>
              </a:rPr>
              <a:t>50%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D6DBE0"/>
                </a:solidFill>
                <a:latin typeface="Arial"/>
              </a:rPr>
              <a:t>− Platform fees &amp;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20040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50" b="1" i="0">
                <a:solidFill>
                  <a:srgbClr val="D6DBE0"/>
                </a:solidFill>
                <a:latin typeface="Arial"/>
              </a:rPr>
              <a:t>(₱12.0M)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0040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8A929B"/>
                </a:solidFill>
                <a:latin typeface="Arial"/>
              </a:rPr>
              <a:t>10%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7" y="3675887"/>
            <a:ext cx="6949440" cy="45720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03320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F39C12"/>
                </a:solidFill>
                <a:latin typeface="Arial"/>
              </a:rPr>
              <a:t>− Logistics &amp; shipping subsidies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70332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50" b="1" i="0">
                <a:solidFill>
                  <a:srgbClr val="F39C12"/>
                </a:solidFill>
                <a:latin typeface="Arial"/>
              </a:rPr>
              <a:t>(₱24.0M)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0332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8A929B"/>
                </a:solidFill>
                <a:latin typeface="Arial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 i="0">
                <a:solidFill>
                  <a:srgbClr val="D6DBE0"/>
                </a:solidFill>
                <a:latin typeface="Arial"/>
              </a:rPr>
              <a:t>− Warehouse OpEx + Admin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206240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50" b="1" i="0">
                <a:solidFill>
                  <a:srgbClr val="D6DBE0"/>
                </a:solidFill>
                <a:latin typeface="Arial"/>
              </a:rPr>
              <a:t>(₱13.2M)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8A929B"/>
                </a:solidFill>
                <a:latin typeface="Arial"/>
              </a:rPr>
              <a:t>11%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59"/>
            <a:ext cx="4206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2ECC71"/>
                </a:solidFill>
                <a:latin typeface="Arial"/>
              </a:rPr>
              <a:t>= Net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4709159"/>
            <a:ext cx="1554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50" b="1" i="0">
                <a:solidFill>
                  <a:srgbClr val="2ECC71"/>
                </a:solidFill>
                <a:latin typeface="Arial"/>
              </a:rPr>
              <a:t>₱10.8M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59"/>
            <a:ext cx="914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0" i="0">
                <a:solidFill>
                  <a:srgbClr val="8A929B"/>
                </a:solidFill>
                <a:latin typeface="Arial"/>
              </a:rPr>
              <a:t>9%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2286000"/>
            <a:ext cx="3657600" cy="274320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5146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39C12"/>
                </a:solidFill>
                <a:latin typeface="Arial"/>
              </a:rPr>
              <a:t>THE OBVIOUS INSTINCT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3017520"/>
            <a:ext cx="3200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ECEFF2"/>
                </a:solidFill>
                <a:latin typeface="Arial"/>
              </a:rPr>
              <a:t>Shipping is 20% of revenue — the biggest controllable line.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CEFF2"/>
                </a:solidFill>
                <a:latin typeface="Arial"/>
              </a:rPr>
              <a:t>So cut it: build a regional hub.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D6DBE0"/>
                </a:solidFill>
                <a:latin typeface="Arial"/>
              </a:rPr>
              <a:t>It feels right.</a:t>
            </a:r>
          </a:p>
          <a:p>
            <a:pPr algn="l"/>
            <a:r>
              <a:rPr sz="1250" b="0" i="0">
                <a:solidFill>
                  <a:srgbClr val="F39C12"/>
                </a:solidFill>
                <a:latin typeface="Arial"/>
              </a:rPr>
              <a:t>Watch what happens when we test it.  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" y="60533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Exhibit A — Simplified Financial Snapshot, FY2025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B9BD5"/>
                </a:solidFill>
                <a:latin typeface="Arial"/>
              </a:rPr>
              <a:t>B · WHY IT MAKES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THE LEAK YOU </a:t>
            </a:r>
            <a:r>
              <a:rPr sz="3100" b="1">
                <a:solidFill>
                  <a:srgbClr val="C3F53C"/>
                </a:solidFill>
                <a:latin typeface="Arial"/>
              </a:rPr>
              <a:t>CAN'T SEE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Now read Exhibit C — and do this one calculation with 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14884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950" b="1">
                <a:solidFill>
                  <a:srgbClr val="C3F53C"/>
                </a:solidFill>
                <a:latin typeface="Arial"/>
              </a:rPr>
              <a:t>●  </a:t>
            </a:r>
            <a:r>
              <a:rPr sz="1350">
                <a:solidFill>
                  <a:srgbClr val="D6DBE0"/>
                </a:solidFill>
                <a:latin typeface="Arial"/>
              </a:rPr>
              <a:t>Freeze-dried candy sells 300 units/day — but is out of stock 11 days a month  (Exhibit C).</a:t>
            </a:r>
          </a:p>
          <a:p>
            <a:pPr>
              <a:spcAft>
                <a:spcPts val="1300"/>
              </a:spcAft>
            </a:pPr>
            <a:r>
              <a:rPr sz="950" b="1">
                <a:solidFill>
                  <a:srgbClr val="C3F53C"/>
                </a:solidFill>
                <a:latin typeface="Arial"/>
              </a:rPr>
              <a:t>●  </a:t>
            </a:r>
            <a:r>
              <a:rPr sz="1350">
                <a:solidFill>
                  <a:srgbClr val="D6DBE0"/>
                </a:solidFill>
                <a:latin typeface="Arial"/>
              </a:rPr>
              <a:t>300 × 11 × 12 = 39,600 units never sold → × ₱180 = ₱7.13M → × 50% margin (Exhibit A) = ₱3.56M lost on ONE product.</a:t>
            </a:r>
          </a:p>
          <a:p>
            <a:pPr>
              <a:spcAft>
                <a:spcPts val="1300"/>
              </a:spcAft>
            </a:pPr>
            <a:r>
              <a:rPr sz="950" b="1">
                <a:solidFill>
                  <a:srgbClr val="C3F53C"/>
                </a:solidFill>
                <a:latin typeface="Arial"/>
              </a:rPr>
              <a:t>●  </a:t>
            </a:r>
            <a:r>
              <a:rPr sz="1350">
                <a:solidFill>
                  <a:srgbClr val="D6DBE0"/>
                </a:solidFill>
                <a:latin typeface="Arial"/>
              </a:rPr>
              <a:t>Across all fast-movers: ₱7.35M/yr in lost gross profit = 68% of net profit (Exhibit A).</a:t>
            </a:r>
          </a:p>
          <a:p>
            <a:pPr>
              <a:spcAft>
                <a:spcPts val="1300"/>
              </a:spcAft>
            </a:pPr>
            <a:r>
              <a:rPr sz="950" b="1">
                <a:solidFill>
                  <a:srgbClr val="C3F53C"/>
                </a:solidFill>
                <a:latin typeface="Arial"/>
              </a:rPr>
              <a:t>●  </a:t>
            </a:r>
            <a:r>
              <a:rPr sz="1350">
                <a:solidFill>
                  <a:srgbClr val="D6DBE0"/>
                </a:solidFill>
                <a:latin typeface="Arial"/>
              </a:rPr>
              <a:t>Exhibit D shows the control gap: stock updates happen by hand twice a day, while ordering relies on visual checks and gut feel.</a:t>
            </a:r>
          </a:p>
        </p:txBody>
      </p:sp>
      <p:pic>
        <p:nvPicPr>
          <p:cNvPr id="9" name="Picture 8" descr="01_leak_bu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135507"/>
            <a:ext cx="5577840" cy="3318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7" y="548640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1">
                <a:solidFill>
                  <a:srgbClr val="C3F53C"/>
                </a:solidFill>
                <a:latin typeface="Arial"/>
              </a:rPr>
              <a:t>Shipping is the biggest cost. Stockouts are the biggest quantified recoverable opportunity.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60533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Exhibit C (velocity) · Exhibit A (margin) · Exhibit D (manual 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B9BD5"/>
                </a:solidFill>
                <a:latin typeface="Arial"/>
              </a:rPr>
              <a:t>B · WHY IT MAKES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WHY THE OBVIOUS MOVE </a:t>
            </a:r>
            <a:r>
              <a:rPr sz="3100" b="1">
                <a:solidFill>
                  <a:srgbClr val="C3F53C"/>
                </a:solidFill>
                <a:latin typeface="Arial"/>
              </a:rPr>
              <a:t>BACKFIRES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Remember the 'build a hub' instinct? Let's put real numbers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19456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830" b="1">
                <a:solidFill>
                  <a:srgbClr val="C3F53C"/>
                </a:solidFill>
                <a:latin typeface="Arial"/>
              </a:rPr>
              <a:t>●  </a:t>
            </a:r>
            <a:r>
              <a:rPr sz="1230">
                <a:solidFill>
                  <a:srgbClr val="D6DBE0"/>
                </a:solidFill>
                <a:latin typeface="Arial"/>
              </a:rPr>
              <a:t>Central Visayas: 48,100 orders/yr (Assumption B) at ₱155/order (Exhibit B).</a:t>
            </a:r>
          </a:p>
          <a:p>
            <a:pPr>
              <a:spcAft>
                <a:spcPts val="900"/>
              </a:spcAft>
            </a:pPr>
            <a:r>
              <a:rPr sz="830" b="1">
                <a:solidFill>
                  <a:srgbClr val="C3F53C"/>
                </a:solidFill>
                <a:latin typeface="Arial"/>
              </a:rPr>
              <a:t>●  </a:t>
            </a:r>
            <a:r>
              <a:rPr sz="1230">
                <a:solidFill>
                  <a:srgbClr val="D6DBE0"/>
                </a:solidFill>
                <a:latin typeface="Arial"/>
              </a:rPr>
              <a:t>A hub cuts shipping ~₱50/order (Assumption D) → 48,100 × ₱50 = ₱2.4M saved.</a:t>
            </a:r>
          </a:p>
          <a:p>
            <a:pPr>
              <a:spcAft>
                <a:spcPts val="900"/>
              </a:spcAft>
            </a:pPr>
            <a:r>
              <a:rPr sz="830" b="1">
                <a:solidFill>
                  <a:srgbClr val="C3F53C"/>
                </a:solidFill>
                <a:latin typeface="Arial"/>
              </a:rPr>
              <a:t>●  </a:t>
            </a:r>
            <a:r>
              <a:rPr sz="1230">
                <a:solidFill>
                  <a:srgbClr val="D6DBE0"/>
                </a:solidFill>
                <a:latin typeface="Arial"/>
              </a:rPr>
              <a:t>Base damage savings (~₱0.29M) + 15% growth (~₱2.34M GP) lift total benefit to only ~₱5.04M.</a:t>
            </a:r>
          </a:p>
          <a:p>
            <a:pPr>
              <a:spcAft>
                <a:spcPts val="900"/>
              </a:spcAft>
            </a:pPr>
            <a:r>
              <a:rPr sz="830" b="1">
                <a:solidFill>
                  <a:srgbClr val="C3F53C"/>
                </a:solidFill>
                <a:latin typeface="Arial"/>
              </a:rPr>
              <a:t>●  </a:t>
            </a:r>
            <a:r>
              <a:rPr sz="1230">
                <a:solidFill>
                  <a:srgbClr val="D6DBE0"/>
                </a:solidFill>
                <a:latin typeface="Arial"/>
              </a:rPr>
              <a:t>Against ₱9M annual operating cost, the base case loses ~₱3.96M.</a:t>
            </a:r>
          </a:p>
          <a:p>
            <a:pPr>
              <a:spcAft>
                <a:spcPts val="900"/>
              </a:spcAft>
            </a:pPr>
            <a:r>
              <a:rPr sz="830" b="1">
                <a:solidFill>
                  <a:srgbClr val="C3F53C"/>
                </a:solidFill>
                <a:latin typeface="Arial"/>
              </a:rPr>
              <a:t>●  </a:t>
            </a:r>
            <a:r>
              <a:rPr sz="1230">
                <a:solidFill>
                  <a:srgbClr val="D6DBE0"/>
                </a:solidFill>
                <a:latin typeface="Arial"/>
              </a:rPr>
              <a:t>Break-even needs roughly 40% regional growth — above the case's 15–30% planning range.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A929B"/>
                </a:solidFill>
                <a:latin typeface="Arial"/>
              </a:rPr>
              <a:t>WHAT A HUB DOES TO THE MATH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88920"/>
            <a:ext cx="2011680" cy="45720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2816352"/>
            <a:ext cx="2743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2ECC71"/>
                </a:solidFill>
                <a:latin typeface="Arial"/>
              </a:rPr>
              <a:t>₱5.04M total benefit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611880"/>
            <a:ext cx="3657600" cy="45720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639312"/>
            <a:ext cx="3657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₱9M to run /yr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572000"/>
            <a:ext cx="5120640" cy="868680"/>
          </a:xfrm>
          <a:prstGeom prst="roundRect">
            <a:avLst/>
          </a:prstGeom>
          <a:solidFill>
            <a:srgbClr val="16212E"/>
          </a:solidFill>
          <a:ln w="1905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681728"/>
            <a:ext cx="4846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Arial"/>
              </a:rPr>
              <a:t>Base case still loses ~₱3.96M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60533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Exhibit B · Assumptions B/C/D/E · Exhibit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5B9BD5"/>
                </a:solidFill>
                <a:latin typeface="Arial"/>
              </a:rPr>
              <a:t>B · WHY IT MAKES 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THE OPTIONS, </a:t>
            </a:r>
            <a:r>
              <a:rPr sz="3100" b="1">
                <a:solidFill>
                  <a:srgbClr val="C3F53C"/>
                </a:solidFill>
                <a:latin typeface="Arial"/>
              </a:rPr>
              <a:t>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We modeled each option's range — because on a 9% margin, the downside matters as much as the upside.</a:t>
            </a:r>
          </a:p>
        </p:txBody>
      </p:sp>
      <p:pic>
        <p:nvPicPr>
          <p:cNvPr id="8" name="Picture 7" descr="03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174018"/>
            <a:ext cx="6309360" cy="36072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7" y="2286000"/>
            <a:ext cx="4663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900" b="1">
                <a:solidFill>
                  <a:srgbClr val="C3F53C"/>
                </a:solidFill>
                <a:latin typeface="Arial"/>
              </a:rPr>
              <a:t>●  </a:t>
            </a:r>
            <a:r>
              <a:rPr sz="1300">
                <a:solidFill>
                  <a:srgbClr val="D6DBE0"/>
                </a:solidFill>
                <a:latin typeface="Arial"/>
              </a:rPr>
              <a:t>Fix Operations: +₱0.2M → +₱3.5M — the recurring floor stays positive.</a:t>
            </a:r>
          </a:p>
          <a:p>
            <a:pPr>
              <a:spcAft>
                <a:spcPts val="1200"/>
              </a:spcAft>
            </a:pPr>
            <a:r>
              <a:rPr sz="900" b="1">
                <a:solidFill>
                  <a:srgbClr val="C3F53C"/>
                </a:solidFill>
                <a:latin typeface="Arial"/>
              </a:rPr>
              <a:t>●  </a:t>
            </a:r>
            <a:r>
              <a:rPr sz="1300">
                <a:solidFill>
                  <a:srgbClr val="D6DBE0"/>
                </a:solidFill>
                <a:latin typeface="Arial"/>
              </a:rPr>
              <a:t>Cebu hub (owned): −₱6.9M → +₱1.0M — loses in 2 of 3.</a:t>
            </a:r>
          </a:p>
          <a:p>
            <a:pPr>
              <a:spcAft>
                <a:spcPts val="1200"/>
              </a:spcAft>
            </a:pPr>
            <a:r>
              <a:rPr sz="900" b="1">
                <a:solidFill>
                  <a:srgbClr val="C3F53C"/>
                </a:solidFill>
                <a:latin typeface="Arial"/>
              </a:rPr>
              <a:t>●  </a:t>
            </a:r>
            <a:r>
              <a:rPr sz="1300">
                <a:solidFill>
                  <a:srgbClr val="D6DBE0"/>
                </a:solidFill>
                <a:latin typeface="Arial"/>
              </a:rPr>
              <a:t>Mall kiosk: −₱2.5M → +₱3.0M — a coin-flip on foot traffic (Assumption F).</a:t>
            </a:r>
          </a:p>
          <a:p>
            <a:pPr>
              <a:spcAft>
                <a:spcPts val="1200"/>
              </a:spcAft>
            </a:pPr>
            <a:r>
              <a:rPr sz="900" b="1">
                <a:solidFill>
                  <a:srgbClr val="C3F53C"/>
                </a:solidFill>
                <a:latin typeface="Arial"/>
              </a:rPr>
              <a:t>●  </a:t>
            </a:r>
            <a:r>
              <a:rPr sz="1300">
                <a:solidFill>
                  <a:srgbClr val="D6DBE0"/>
                </a:solidFill>
                <a:latin typeface="Arial"/>
              </a:rPr>
              <a:t>Decision rule: protect the downside first; earn the upside through measured pilots.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60533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Model on Exhibit C + Assumptions C/D/E/F · full math in 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1C40F"/>
                </a:solidFill>
                <a:latin typeface="Arial"/>
              </a:rPr>
              <a:t>C · HOW IT WILL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FIX THE ENGINE FIRST, </a:t>
            </a:r>
            <a:r>
              <a:rPr sz="3100" b="1">
                <a:solidFill>
                  <a:srgbClr val="C3F53C"/>
                </a:solidFill>
                <a:latin typeface="Arial"/>
              </a:rPr>
              <a:t>THEN EXPAND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One primary move, one supporting channel test, one gated pilot — each step must earn the next.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2240280"/>
            <a:ext cx="3566160" cy="2377440"/>
          </a:xfrm>
          <a:prstGeom prst="roundRect">
            <a:avLst/>
          </a:prstGeom>
          <a:solidFill>
            <a:srgbClr val="16212E"/>
          </a:solidFill>
          <a:ln w="25400">
            <a:solidFill>
              <a:srgbClr val="C3F5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3F53C"/>
                </a:solidFill>
                <a:latin typeface="Arial"/>
              </a:rPr>
              <a:t>PRIMARY · MONTHS 1–6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34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ECEFF2"/>
                </a:solidFill>
                <a:latin typeface="Arial"/>
              </a:rPr>
              <a:t>Fix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47472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D6DBE0"/>
                </a:solidFill>
                <a:latin typeface="Arial"/>
              </a:rPr>
              <a:t>Build stock visibility + earlier warnings. Test a small webstore and measure real 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2240280"/>
            <a:ext cx="3566160" cy="2377440"/>
          </a:xfrm>
          <a:prstGeom prst="roundRect">
            <a:avLst/>
          </a:prstGeom>
          <a:solidFill>
            <a:srgbClr val="16212E"/>
          </a:solidFill>
          <a:ln w="2540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423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1C40F"/>
                </a:solidFill>
                <a:latin typeface="Arial"/>
              </a:rPr>
              <a:t>GATED · MONTH 7+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834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ECEFF2"/>
                </a:solidFill>
                <a:latin typeface="Arial"/>
              </a:rPr>
              <a:t>Cebu 3PL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47472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D6DBE0"/>
                </a:solidFill>
                <a:latin typeface="Arial"/>
              </a:rPr>
              <a:t>Only if all partner costs fit below ~₱56/order — then prove it in an 8-week pilot.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0727" y="2240280"/>
            <a:ext cx="3566160" cy="2377440"/>
          </a:xfrm>
          <a:prstGeom prst="roundRect">
            <a:avLst/>
          </a:prstGeom>
          <a:solidFill>
            <a:srgbClr val="16212E"/>
          </a:solidFill>
          <a:ln w="25400">
            <a:solidFill>
              <a:srgbClr val="8A92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24231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8A929B"/>
                </a:solidFill>
                <a:latin typeface="Arial"/>
              </a:rPr>
              <a:t>YEAR 2 · DEFERRED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834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ECEFF2"/>
                </a:solidFill>
                <a:latin typeface="Arial"/>
              </a:rPr>
              <a:t>Kiosk / owned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3474720"/>
            <a:ext cx="3200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D6DBE0"/>
                </a:solidFill>
                <a:latin typeface="Arial"/>
              </a:rPr>
              <a:t>Evaluated later from real operating and Cebu-pilot evidence; not funded in Year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" y="50292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 i="0">
                <a:solidFill>
                  <a:srgbClr val="C3F53C"/>
                </a:solidFill>
                <a:latin typeface="Arial"/>
              </a:rPr>
              <a:t>The principle:  </a:t>
            </a:r>
            <a:r>
              <a:rPr sz="1450" b="1" i="0">
                <a:solidFill>
                  <a:srgbClr val="ECEFF2"/>
                </a:solidFill>
                <a:latin typeface="Arial"/>
              </a:rPr>
              <a:t>earn the right to expand. Year 1 builds operating proof that makes Year-2 growth safer.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1C40F"/>
                </a:solidFill>
                <a:latin typeface="Arial"/>
              </a:rPr>
              <a:t>C · HOW IT WILL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AN EARLIER WARNING, </a:t>
            </a:r>
            <a:r>
              <a:rPr sz="3100" b="1">
                <a:solidFill>
                  <a:srgbClr val="C3F53C"/>
                </a:solidFill>
                <a:latin typeface="Arial"/>
              </a:rPr>
              <a:t>WHILE THERE'S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Ramen can have 20 days of stock left and still be late to reorder — because its supplier needs 30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2286000"/>
            <a:ext cx="2670048" cy="224028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21207" y="2286000"/>
            <a:ext cx="2670048" cy="6400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48716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C3F53C"/>
                </a:solidFill>
                <a:latin typeface="Arial"/>
              </a:rPr>
              <a:t>1 · 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Bring daily sales, current stock, incoming orders, and supplier lead time into one sheet.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9272" y="2286000"/>
            <a:ext cx="2670048" cy="224028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2286000"/>
            <a:ext cx="2670048" cy="6400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2152" y="248716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5B9BD5"/>
                </a:solidFill>
                <a:latin typeface="Arial"/>
              </a:rPr>
              <a:t>2 · 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92608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Ask: will available and incoming stock last until the next delivery arrives?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17336" y="2286000"/>
            <a:ext cx="2670048" cy="224028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17336" y="2286000"/>
            <a:ext cx="2670048" cy="64008"/>
          </a:xfrm>
          <a:prstGeom prst="rect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48716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1C40F"/>
                </a:solidFill>
                <a:latin typeface="Arial"/>
              </a:rPr>
              <a:t>3 · WARN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92608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Flag the products likely to run short and show the projected gap.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286000"/>
            <a:ext cx="2670048" cy="224028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15400" y="2286000"/>
            <a:ext cx="2670048" cy="64008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248716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39C12"/>
                </a:solidFill>
                <a:latin typeface="Arial"/>
              </a:rPr>
              <a:t>4 · 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926080"/>
            <a:ext cx="2377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Founder checks cash, supplier availability, and minimum order size before approving.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7" y="4846320"/>
            <a:ext cx="11155680" cy="658368"/>
          </a:xfrm>
          <a:prstGeom prst="roundRect">
            <a:avLst/>
          </a:prstGeom>
          <a:solidFill>
            <a:srgbClr val="1E2A3A"/>
          </a:solidFill>
          <a:ln w="19050">
            <a:solidFill>
              <a:srgbClr val="2EC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3776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Arial"/>
              </a:rPr>
              <a:t>5 · LEARN   </a:t>
            </a:r>
            <a:r>
              <a:rPr sz="1220" b="0" i="0">
                <a:solidFill>
                  <a:srgbClr val="ECEFF2"/>
                </a:solidFill>
                <a:latin typeface="Arial"/>
              </a:rPr>
              <a:t>Compare alerts with actual results weekly. Start with Excel + Power Query + barcode checks; add AI trend signals only after the basic data is reliable.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60533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Exhibit D (current process) · Exhibit C (lead times)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1C40F"/>
                </a:solidFill>
                <a:latin typeface="Arial"/>
              </a:rPr>
              <a:t>C · HOW IT WILL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WE TESTED THE </a:t>
            </a:r>
            <a:r>
              <a:rPr sz="3100" b="1">
                <a:solidFill>
                  <a:srgbClr val="C3F53C"/>
                </a:solidFill>
                <a:latin typeface="Arial"/>
              </a:rPr>
              <a:t>DECISION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A working prototype shows how an earlier warning changes when the evidence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0512" y="2349878"/>
            <a:ext cx="8540496" cy="2981202"/>
          </a:xfrm>
          <a:prstGeom prst="roundRect">
            <a:avLst/>
          </a:prstGeom>
          <a:solidFill>
            <a:srgbClr val="16212E"/>
          </a:solidFill>
          <a:ln w="1905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459606"/>
            <a:ext cx="8321040" cy="27617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20240" y="5267073"/>
            <a:ext cx="8321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8A929B"/>
                </a:solidFill>
                <a:latin typeface="Arial"/>
              </a:rPr>
              <a:t>Prototype — case baselines + clearly labeled illustrative operating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559612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0" i="0">
                <a:solidFill>
                  <a:srgbClr val="8A929B"/>
                </a:solidFill>
                <a:latin typeface="Arial"/>
              </a:rPr>
              <a:t>Example: ramen shows ~20 days of stock cover, but its supplier needs 30 days (Exhibit C) — so the warning appears before the shelf is empty. This is not PopCart's live inventory and it does not place orders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1C40F"/>
                </a:solidFill>
                <a:latin typeface="Arial"/>
              </a:rPr>
              <a:t>C · HOW IT WILL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WHAT YEAR 1 SOLVES — </a:t>
            </a:r>
            <a:r>
              <a:rPr sz="3100" b="1">
                <a:solidFill>
                  <a:srgbClr val="C3F53C"/>
                </a:solidFill>
                <a:latin typeface="Arial"/>
              </a:rPr>
              <a:t>AND DEFERS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A credible strategy states what the primary move improves — and what still needs a separate pilot.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2240280"/>
            <a:ext cx="11155680" cy="45720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23042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3F53C"/>
                </a:solidFill>
                <a:latin typeface="Arial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230428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3F53C"/>
                </a:solidFill>
                <a:latin typeface="Arial"/>
              </a:rPr>
              <a:t>BASELINE (SOURCE)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30428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3F53C"/>
                </a:solidFill>
                <a:latin typeface="Arial"/>
              </a:rPr>
              <a:t>AFTER YEAR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30428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C3F53C"/>
                </a:solidFill>
                <a:latin typeface="Arial"/>
              </a:rPr>
              <a:t>HOW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2697480"/>
            <a:ext cx="11155680" cy="713232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2734056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ECEFF2"/>
                </a:solidFill>
                <a:latin typeface="Arial"/>
              </a:rPr>
              <a:t>Stockouts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734056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D6DBE0"/>
                </a:solidFill>
                <a:latin typeface="Arial"/>
              </a:rPr>
              <a:t>11 days/mo (Exhibit 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734056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2ECC71"/>
                </a:solidFill>
                <a:latin typeface="Arial"/>
              </a:rPr>
              <a:t>~6 base; ~4–8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734056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earlier warnings + 25–60% reduction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7" y="3410712"/>
            <a:ext cx="11155680" cy="71323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344728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ECEFF2"/>
                </a:solidFill>
                <a:latin typeface="Arial"/>
              </a:rPr>
              <a:t>Inventory visibility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3447288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D6DBE0"/>
                </a:solidFill>
                <a:latin typeface="Arial"/>
              </a:rPr>
              <a:t>2×/day manual (Exhibit 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3447288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2ECC71"/>
                </a:solidFill>
                <a:latin typeface="Arial"/>
              </a:rPr>
              <a:t>every 2h after 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3447288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scheduled refresh + barcode checks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4123944"/>
            <a:ext cx="11155680" cy="713232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416052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ECEFF2"/>
                </a:solidFill>
                <a:latin typeface="Arial"/>
              </a:rPr>
              <a:t>Channel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93008" y="416052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D6DBE0"/>
                </a:solidFill>
                <a:latin typeface="Arial"/>
              </a:rPr>
              <a:t>90% TikTok (Exhibit 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4160520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2ECC71"/>
                </a:solidFill>
                <a:latin typeface="Arial"/>
              </a:rPr>
              <a:t>second channel tested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4160520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webstore sales must be earned, not assumed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4837176"/>
            <a:ext cx="11155680" cy="71323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487375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 i="0">
                <a:solidFill>
                  <a:srgbClr val="ECEFF2"/>
                </a:solidFill>
                <a:latin typeface="Arial"/>
              </a:rPr>
              <a:t>Shipping / delay / damage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3008" y="4873752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D6DBE0"/>
                </a:solidFill>
                <a:latin typeface="Arial"/>
              </a:rPr>
              <a:t>₱155, 5–7d, 4.2% CV (Exhibit 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4873752"/>
            <a:ext cx="2286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 i="0">
                <a:solidFill>
                  <a:srgbClr val="2ECC71"/>
                </a:solidFill>
                <a:latin typeface="Arial"/>
              </a:rPr>
              <a:t>not promised by primary move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4873752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only after a successful 3PL 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7" y="612648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Exhibit B · Exhibit C · Exhibit D · Assumption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1C40F"/>
                </a:solidFill>
                <a:latin typeface="Arial"/>
              </a:rPr>
              <a:t>C · HOW IT WILL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TEST CEBU BEFORE </a:t>
            </a:r>
            <a:r>
              <a:rPr sz="3100" b="1">
                <a:solidFill>
                  <a:srgbClr val="C3F53C"/>
                </a:solidFill>
                <a:latin typeface="Arial"/>
              </a:rPr>
              <a:t>OWNING THE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A 3PL is an outside warehouse that stores and ships selected products for a per-order fee.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24028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819" b="1">
                <a:solidFill>
                  <a:srgbClr val="C3F53C"/>
                </a:solidFill>
                <a:latin typeface="Arial"/>
              </a:rPr>
              <a:t>●  </a:t>
            </a:r>
            <a:r>
              <a:rPr sz="1220">
                <a:solidFill>
                  <a:srgbClr val="D6DBE0"/>
                </a:solidFill>
                <a:latin typeface="Arial"/>
              </a:rPr>
              <a:t>Owned hub: ₱7.2–10.8M/yr operating cost whether volume arrives or not (Assumption C).</a:t>
            </a:r>
          </a:p>
          <a:p>
            <a:pPr>
              <a:spcAft>
                <a:spcPts val="900"/>
              </a:spcAft>
            </a:pPr>
            <a:r>
              <a:rPr sz="819" b="1">
                <a:solidFill>
                  <a:srgbClr val="C3F53C"/>
                </a:solidFill>
                <a:latin typeface="Arial"/>
              </a:rPr>
              <a:t>●  </a:t>
            </a:r>
            <a:r>
              <a:rPr sz="1220">
                <a:solidFill>
                  <a:srgbClr val="D6DBE0"/>
                </a:solidFill>
                <a:latin typeface="Arial"/>
              </a:rPr>
              <a:t>3PL pilot: smaller commitment, per-order charges, selected products only.</a:t>
            </a:r>
          </a:p>
          <a:p>
            <a:pPr>
              <a:spcAft>
                <a:spcPts val="900"/>
              </a:spcAft>
            </a:pPr>
            <a:r>
              <a:rPr sz="819" b="1">
                <a:solidFill>
                  <a:srgbClr val="C3F53C"/>
                </a:solidFill>
                <a:latin typeface="Arial"/>
              </a:rPr>
              <a:t>●  </a:t>
            </a:r>
            <a:r>
              <a:rPr sz="1220">
                <a:solidFill>
                  <a:srgbClr val="D6DBE0"/>
                </a:solidFill>
                <a:latin typeface="Arial"/>
              </a:rPr>
              <a:t>Cebu before Davao: higher volume (26% vs 17% — Exhibit B / Assump. B).</a:t>
            </a:r>
          </a:p>
          <a:p>
            <a:pPr>
              <a:spcAft>
                <a:spcPts val="900"/>
              </a:spcAft>
            </a:pPr>
            <a:r>
              <a:rPr sz="819" b="1">
                <a:solidFill>
                  <a:srgbClr val="C3F53C"/>
                </a:solidFill>
                <a:latin typeface="Arial"/>
              </a:rPr>
              <a:t>●  </a:t>
            </a:r>
            <a:r>
              <a:rPr sz="1220">
                <a:solidFill>
                  <a:srgbClr val="D6DBE0"/>
                </a:solidFill>
                <a:latin typeface="Arial"/>
              </a:rPr>
              <a:t>Gate: storage + transfer + pick-pack + returns + minimums must fit below ~₱56/order.</a:t>
            </a:r>
          </a:p>
          <a:p>
            <a:pPr>
              <a:spcAft>
                <a:spcPts val="900"/>
              </a:spcAft>
            </a:pPr>
            <a:r>
              <a:rPr sz="819" b="1">
                <a:solidFill>
                  <a:srgbClr val="C3F53C"/>
                </a:solidFill>
                <a:latin typeface="Arial"/>
              </a:rPr>
              <a:t>●  </a:t>
            </a:r>
            <a:r>
              <a:rPr sz="1220">
                <a:solidFill>
                  <a:srgbClr val="D6DBE0"/>
                </a:solidFill>
                <a:latin typeface="Arial"/>
              </a:rPr>
              <a:t>Proof: 8-week pilot; measure total cost/order, delivery time, damage, and stock availability.</a:t>
            </a:r>
          </a:p>
        </p:txBody>
      </p:sp>
      <p:pic>
        <p:nvPicPr>
          <p:cNvPr id="9" name="Picture 8" descr="04_grab_vs_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465525"/>
            <a:ext cx="5760720" cy="32071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7" y="605332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Exhibit B · Exhibit D · Assumptions B/C/D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D · FINANCIAL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THE </a:t>
            </a:r>
            <a:r>
              <a:rPr sz="3100" b="1">
                <a:solidFill>
                  <a:srgbClr val="C3F53C"/>
                </a:solidFill>
                <a:latin typeface="Arial"/>
              </a:rPr>
              <a:t>HONEST MONEY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We could have claimed the full ₱7.35M. Here's the number we'd actually keep.</a:t>
            </a:r>
          </a:p>
        </p:txBody>
      </p:sp>
      <p:pic>
        <p:nvPicPr>
          <p:cNvPr id="8" name="Picture 7" descr="02_lost_profit_by_sk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2266139"/>
            <a:ext cx="5577840" cy="3148681"/>
          </a:xfrm>
          <a:prstGeom prst="rect">
            <a:avLst/>
          </a:prstGeom>
        </p:spPr>
      </p:pic>
      <p:pic>
        <p:nvPicPr>
          <p:cNvPr id="9" name="Picture 8" descr="06_contribution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179" y="2194560"/>
            <a:ext cx="521932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7" y="5468112"/>
            <a:ext cx="11155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60" b="0" i="0">
                <a:solidFill>
                  <a:srgbClr val="8A929B"/>
                </a:solidFill>
                <a:latin typeface="Arial"/>
              </a:rPr>
              <a:t>Base math: ₱14.70M lost sales × 42.5% recovery = ₱6.25M recovered revenue. At 30–40% money left after product, platform, and shipping costs: ₱1.87–2.50M. Less ₱0.90M annual system cost = ₱0.97–1.60M recurring benefit; one-time setup = ₱1.40M.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614476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Exhibit A · Exhibit C · Assumption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Arial"/>
              </a:rPr>
              <a:t>D · FINANCIAL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PAYBACK, </a:t>
            </a:r>
            <a:r>
              <a:rPr sz="3100" b="1">
                <a:solidFill>
                  <a:srgbClr val="C3F53C"/>
                </a:solidFill>
                <a:latin typeface="Arial"/>
              </a:rPr>
              <a:t>WITHOUT PRETENDING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Expected payback is ~13–20 months at 30–40% take-home margin — slower if fewer sales are recovered.</a:t>
            </a:r>
          </a:p>
        </p:txBody>
      </p:sp>
      <p:pic>
        <p:nvPicPr>
          <p:cNvPr id="8" name="Picture 7" descr="07_payback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70" y="2240280"/>
            <a:ext cx="5726395" cy="3291840"/>
          </a:xfrm>
          <a:prstGeom prst="rect">
            <a:avLst/>
          </a:prstGeom>
        </p:spPr>
      </p:pic>
      <p:pic>
        <p:nvPicPr>
          <p:cNvPr id="9" name="Picture 8" descr="08_investment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485905"/>
            <a:ext cx="5394960" cy="28005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1207" y="557784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8A929B"/>
                </a:solidFill>
                <a:latin typeface="Arial"/>
              </a:rPr>
              <a:t>Year 1 is an investment year (−₱0.67M cash); net-positive thereafter. The case allows a payback beyond 12 months if stated honestly. The hub never pays back in its base case.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6144768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1">
                <a:solidFill>
                  <a:srgbClr val="8A929B"/>
                </a:solidFill>
                <a:latin typeface="Arial"/>
              </a:rPr>
              <a:t>Source — Model on Exhibit C + Assumptions C/D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Arial"/>
              </a:rPr>
              <a:t>E · ROADMAP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BUILD THE HABIT, </a:t>
            </a:r>
            <a:r>
              <a:rPr sz="3100" b="1">
                <a:solidFill>
                  <a:srgbClr val="C3F53C"/>
                </a:solidFill>
                <a:latin typeface="Arial"/>
              </a:rPr>
              <a:t>THEN TEST EXPANSION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Each phase produces evidence for the next decision — with a clear stop point if the numbers fail.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57600"/>
            <a:ext cx="10561320" cy="36576"/>
          </a:xfrm>
          <a:prstGeom prst="rect">
            <a:avLst/>
          </a:prstGeom>
          <a:solidFill>
            <a:srgbClr val="2A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1" y="3547872"/>
            <a:ext cx="219456" cy="219456"/>
          </a:xfrm>
          <a:prstGeom prst="ellipse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1" y="294436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C3F53C"/>
                </a:solidFill>
                <a:latin typeface="Arial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1" y="395020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 i="0">
                <a:solidFill>
                  <a:srgbClr val="ECEFF2"/>
                </a:solidFill>
                <a:latin typeface="Arial"/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" y="4315968"/>
            <a:ext cx="1755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 i="0">
                <a:solidFill>
                  <a:srgbClr val="D6DBE0"/>
                </a:solidFill>
                <a:latin typeface="Arial"/>
              </a:rPr>
              <a:t>Count stock; clean SKU + supplier list; confirm lead times.</a:t>
            </a:r>
          </a:p>
        </p:txBody>
      </p:sp>
      <p:sp>
        <p:nvSpPr>
          <p:cNvPr id="13" name="Oval 12"/>
          <p:cNvSpPr/>
          <p:nvPr/>
        </p:nvSpPr>
        <p:spPr>
          <a:xfrm>
            <a:off x="2953512" y="3547872"/>
            <a:ext cx="219456" cy="219456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992" y="294436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5B9BD5"/>
                </a:solidFill>
                <a:latin typeface="Arial"/>
              </a:rPr>
              <a:t>M2–3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1992" y="395020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 i="0">
                <a:solidFill>
                  <a:srgbClr val="ECEFF2"/>
                </a:solidFill>
                <a:latin typeface="Arial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5416" y="4315968"/>
            <a:ext cx="1755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 i="0">
                <a:solidFill>
                  <a:srgbClr val="D6DBE0"/>
                </a:solidFill>
                <a:latin typeface="Arial"/>
              </a:rPr>
              <a:t>5 fast movers; daily warnings; log founder decisions.</a:t>
            </a:r>
          </a:p>
        </p:txBody>
      </p:sp>
      <p:sp>
        <p:nvSpPr>
          <p:cNvPr id="17" name="Oval 16"/>
          <p:cNvSpPr/>
          <p:nvPr/>
        </p:nvSpPr>
        <p:spPr>
          <a:xfrm>
            <a:off x="4873752" y="3547872"/>
            <a:ext cx="219456" cy="219456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2" y="294436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  <a:latin typeface="Arial"/>
              </a:rPr>
              <a:t>M4–6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2232" y="395020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 i="0">
                <a:solidFill>
                  <a:srgbClr val="ECEFF2"/>
                </a:solidFill>
                <a:latin typeface="Arial"/>
              </a:rPr>
              <a:t>STABILIZE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6" y="4315968"/>
            <a:ext cx="1755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 i="0">
                <a:solidFill>
                  <a:srgbClr val="D6DBE0"/>
                </a:solidFill>
                <a:latin typeface="Arial"/>
              </a:rPr>
              <a:t>2h updates; target 6–8 stockout days; webstore test.</a:t>
            </a:r>
          </a:p>
        </p:txBody>
      </p:sp>
      <p:sp>
        <p:nvSpPr>
          <p:cNvPr id="21" name="Diamond 20"/>
          <p:cNvSpPr/>
          <p:nvPr/>
        </p:nvSpPr>
        <p:spPr>
          <a:xfrm>
            <a:off x="6757416" y="3511296"/>
            <a:ext cx="292608" cy="292608"/>
          </a:xfrm>
          <a:prstGeom prst="diamond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62472" y="294436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F39C12"/>
                </a:solidFill>
                <a:latin typeface="Arial"/>
              </a:rPr>
              <a:t>M7 ·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62472" y="395020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 i="0">
                <a:solidFill>
                  <a:srgbClr val="ECEFF2"/>
                </a:solidFill>
                <a:latin typeface="Arial"/>
              </a:rPr>
              <a:t>QUOTE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4315968"/>
            <a:ext cx="1755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 i="0">
                <a:solidFill>
                  <a:srgbClr val="D6DBE0"/>
                </a:solidFill>
                <a:latin typeface="Arial"/>
              </a:rPr>
              <a:t>All-in cost &lt;~₱56/order; cash available for split stock.</a:t>
            </a:r>
          </a:p>
        </p:txBody>
      </p:sp>
      <p:sp>
        <p:nvSpPr>
          <p:cNvPr id="25" name="Oval 24"/>
          <p:cNvSpPr/>
          <p:nvPr/>
        </p:nvSpPr>
        <p:spPr>
          <a:xfrm>
            <a:off x="8714232" y="3547872"/>
            <a:ext cx="219456" cy="219456"/>
          </a:xfrm>
          <a:prstGeom prst="ellipse">
            <a:avLst/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294436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F1C40F"/>
                </a:solidFill>
                <a:latin typeface="Arial"/>
              </a:rPr>
              <a:t>M8–9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2712" y="395020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 i="0">
                <a:solidFill>
                  <a:srgbClr val="ECEFF2"/>
                </a:solidFill>
                <a:latin typeface="Arial"/>
              </a:rPr>
              <a:t>IF GO: 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4315968"/>
            <a:ext cx="1755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 i="0">
                <a:solidFill>
                  <a:srgbClr val="D6DBE0"/>
                </a:solidFill>
                <a:latin typeface="Arial"/>
              </a:rPr>
              <a:t>8 weeks; track cost, speed, damage, and availability.</a:t>
            </a:r>
          </a:p>
        </p:txBody>
      </p:sp>
      <p:sp>
        <p:nvSpPr>
          <p:cNvPr id="29" name="Oval 28"/>
          <p:cNvSpPr/>
          <p:nvPr/>
        </p:nvSpPr>
        <p:spPr>
          <a:xfrm>
            <a:off x="10634472" y="3547872"/>
            <a:ext cx="219456" cy="219456"/>
          </a:xfrm>
          <a:prstGeom prst="ellipse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02952" y="294436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2ECC71"/>
                </a:solidFill>
                <a:latin typeface="Arial"/>
              </a:rPr>
              <a:t>M10–12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02952" y="3950208"/>
            <a:ext cx="16824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80" b="1" i="0">
                <a:solidFill>
                  <a:srgbClr val="ECEFF2"/>
                </a:solidFill>
                <a:latin typeface="Arial"/>
              </a:rPr>
              <a:t>DECIDE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66376" y="4315968"/>
            <a:ext cx="1755648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 i="0">
                <a:solidFill>
                  <a:srgbClr val="D6DBE0"/>
                </a:solidFill>
                <a:latin typeface="Arial"/>
              </a:rPr>
              <a:t>SOPs + Year-2 go/no-go on expansion and kiosks.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577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 i="0">
                <a:solidFill>
                  <a:srgbClr val="ECEFF2"/>
                </a:solidFill>
                <a:latin typeface="Arial"/>
              </a:rPr>
              <a:t>People: warehouse manager + two admins run the daily process; founders approve purchase orders and the Cebu go/no-go.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74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F39C12"/>
                </a:solidFill>
                <a:latin typeface="Arial"/>
              </a:rPr>
              <a:t>E · ROADMAP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STOP THE LEAK. </a:t>
            </a:r>
            <a:r>
              <a:rPr sz="3100" b="1">
                <a:solidFill>
                  <a:srgbClr val="C3F53C"/>
                </a:solidFill>
                <a:latin typeface="Arial"/>
              </a:rPr>
              <a:t>EARN THE 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We tried to break our own plan — here's where it held, and where it lands.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2148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3F53C"/>
                </a:solidFill>
                <a:latin typeface="Arial"/>
              </a:rPr>
              <a:t>RISKS → MITIGATIONS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56032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800" b="1">
                <a:solidFill>
                  <a:srgbClr val="C3F53C"/>
                </a:solidFill>
                <a:latin typeface="Arial"/>
              </a:rPr>
              <a:t>●  </a:t>
            </a:r>
            <a:r>
              <a:rPr sz="1200">
                <a:solidFill>
                  <a:srgbClr val="D6DBE0"/>
                </a:solidFill>
                <a:latin typeface="Arial"/>
              </a:rPr>
              <a:t>Staff adoption → familiar Excel/Power Query workflow + training.</a:t>
            </a:r>
          </a:p>
          <a:p>
            <a:pPr>
              <a:spcAft>
                <a:spcPts val="900"/>
              </a:spcAft>
            </a:pPr>
            <a:r>
              <a:rPr sz="800" b="1">
                <a:solidFill>
                  <a:srgbClr val="C3F53C"/>
                </a:solidFill>
                <a:latin typeface="Arial"/>
              </a:rPr>
              <a:t>●  </a:t>
            </a:r>
            <a:r>
              <a:rPr sz="1200">
                <a:solidFill>
                  <a:srgbClr val="D6DBE0"/>
                </a:solidFill>
                <a:latin typeface="Arial"/>
              </a:rPr>
              <a:t>Channel shock → webstore test by Month 6; measure orders before claiming diversification.</a:t>
            </a:r>
          </a:p>
          <a:p>
            <a:pPr>
              <a:spcAft>
                <a:spcPts val="900"/>
              </a:spcAft>
            </a:pPr>
            <a:r>
              <a:rPr sz="800" b="1">
                <a:solidFill>
                  <a:srgbClr val="C3F53C"/>
                </a:solidFill>
                <a:latin typeface="Arial"/>
              </a:rPr>
              <a:t>●  </a:t>
            </a:r>
            <a:r>
              <a:rPr sz="1200">
                <a:solidFill>
                  <a:srgbClr val="D6DBE0"/>
                </a:solidFill>
                <a:latin typeface="Arial"/>
              </a:rPr>
              <a:t>Recovery below model → track stockout days + recovered sales monthly; adjust or stop.</a:t>
            </a:r>
          </a:p>
          <a:p>
            <a:pPr>
              <a:spcAft>
                <a:spcPts val="900"/>
              </a:spcAft>
            </a:pPr>
            <a:r>
              <a:rPr sz="800" b="1">
                <a:solidFill>
                  <a:srgbClr val="C3F53C"/>
                </a:solidFill>
                <a:latin typeface="Arial"/>
              </a:rPr>
              <a:t>●  </a:t>
            </a:r>
            <a:r>
              <a:rPr sz="1200">
                <a:solidFill>
                  <a:srgbClr val="D6DBE0"/>
                </a:solidFill>
                <a:latin typeface="Arial"/>
              </a:rPr>
              <a:t>Hub under-use → deferred behind a unit-economics gate.</a:t>
            </a:r>
          </a:p>
          <a:p>
            <a:pPr>
              <a:spcAft>
                <a:spcPts val="900"/>
              </a:spcAft>
            </a:pPr>
            <a:r>
              <a:rPr sz="800" b="1">
                <a:solidFill>
                  <a:srgbClr val="C3F53C"/>
                </a:solidFill>
                <a:latin typeface="Arial"/>
              </a:rPr>
              <a:t>●  </a:t>
            </a:r>
            <a:r>
              <a:rPr sz="1200">
                <a:solidFill>
                  <a:srgbClr val="D6DBE0"/>
                </a:solidFill>
                <a:latin typeface="Arial"/>
              </a:rPr>
              <a:t>Long leads, ramen 30d (Exhibit C) → pre-order + 2nd supplier.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48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3F53C"/>
                </a:solidFill>
                <a:latin typeface="Arial"/>
              </a:rPr>
              <a:t>EXPECTED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60320"/>
            <a:ext cx="1691640" cy="178308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560320"/>
            <a:ext cx="1691640" cy="64008"/>
          </a:xfrm>
          <a:prstGeom prst="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2ECC71"/>
                </a:solidFill>
                <a:latin typeface="Arial"/>
              </a:rPr>
              <a:t>~6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3474720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ECEFF2"/>
                </a:solidFill>
                <a:latin typeface="Arial"/>
              </a:rPr>
              <a:t>stockout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3822191"/>
            <a:ext cx="12344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929B"/>
                </a:solidFill>
                <a:latin typeface="Arial"/>
              </a:rPr>
              <a:t>from 11 (Exhibit 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2560320"/>
            <a:ext cx="1691640" cy="178308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560320"/>
            <a:ext cx="1691640" cy="6400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743200"/>
            <a:ext cx="1234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5B9BD5"/>
                </a:solidFill>
                <a:latin typeface="Arial"/>
              </a:rPr>
              <a:t>2h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7" y="3474720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ECEFF2"/>
                </a:solidFill>
                <a:latin typeface="Arial"/>
              </a:rPr>
              <a:t>update 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3822191"/>
            <a:ext cx="123444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929B"/>
                </a:solidFill>
                <a:latin typeface="Arial"/>
              </a:rPr>
              <a:t>from 2×/day (Exh. 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0" y="2560320"/>
            <a:ext cx="1600200" cy="1783080"/>
          </a:xfrm>
          <a:prstGeom prst="roundRect">
            <a:avLst/>
          </a:prstGeom>
          <a:solidFill>
            <a:srgbClr val="16212E"/>
          </a:solidFill>
          <a:ln w="15875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0" y="2560320"/>
            <a:ext cx="1600200" cy="6400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743200"/>
            <a:ext cx="1143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C3F53C"/>
                </a:solidFill>
                <a:latin typeface="Arial"/>
              </a:rPr>
              <a:t>₱1M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05288" y="3474720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ECEFF2"/>
                </a:solidFill>
                <a:latin typeface="Arial"/>
              </a:rPr>
              <a:t>recurring / yr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5288" y="3822191"/>
            <a:ext cx="11430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8A929B"/>
                </a:solidFill>
                <a:latin typeface="Arial"/>
              </a:rPr>
              <a:t>base ₱0.97M; up to ₱1.6M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572000"/>
            <a:ext cx="5349240" cy="1051560"/>
          </a:xfrm>
          <a:prstGeom prst="roundRect">
            <a:avLst/>
          </a:prstGeom>
          <a:solidFill>
            <a:srgbClr val="16212E"/>
          </a:solidFill>
          <a:ln w="19050">
            <a:solidFill>
              <a:srgbClr val="C3F5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636008"/>
            <a:ext cx="5029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CEFF2"/>
                </a:solidFill>
                <a:latin typeface="Arial"/>
              </a:rPr>
              <a:t>“Success isn't found in the newest hub —</a:t>
            </a:r>
          </a:p>
          <a:p>
            <a:pPr algn="ctr"/>
            <a:r>
              <a:rPr sz="1500" b="1" i="0">
                <a:solidFill>
                  <a:srgbClr val="C3F53C"/>
                </a:solidFill>
                <a:latin typeface="Arial"/>
              </a:rPr>
              <a:t>it's in the precision of the shelf.”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APPENDIX A — </a:t>
            </a:r>
            <a:r>
              <a:rPr sz="3100" b="1">
                <a:solidFill>
                  <a:srgbClr val="C3F53C"/>
                </a:solidFill>
                <a:latin typeface="Arial"/>
              </a:rPr>
              <a:t>AI DISCLOSURE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AI was our analytical partner — and we checked every number it produced against the exhibits.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2286000"/>
            <a:ext cx="4389120" cy="45720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5000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3F53C"/>
                </a:solidFill>
                <a:latin typeface="Arial"/>
              </a:rPr>
              <a:t>TOOL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286000"/>
            <a:ext cx="6556248" cy="457200"/>
          </a:xfrm>
          <a:prstGeom prst="rect">
            <a:avLst/>
          </a:prstGeom>
          <a:solidFill>
            <a:srgbClr val="1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85232" y="235000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3F53C"/>
                </a:solidFill>
                <a:latin typeface="Arial"/>
              </a:rPr>
              <a:t>WHERE WE USED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743200"/>
            <a:ext cx="4389120" cy="658368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20640" y="2743200"/>
            <a:ext cx="6556248" cy="658368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79776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ECEFF2"/>
                </a:solidFill>
                <a:latin typeface="Arial"/>
              </a:rPr>
              <a:t>AI assistants ([Claude / Gemini / ChatGPT])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85232" y="2779776"/>
            <a:ext cx="6309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Structured the exhibits; ranked the money leaks; drafted copy; red-teamed the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401568"/>
            <a:ext cx="4389120" cy="658368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3401568"/>
            <a:ext cx="6556248" cy="658368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38144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ECEFF2"/>
                </a:solidFill>
                <a:latin typeface="Arial"/>
              </a:rPr>
              <a:t>Python (written with AI help)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3438144"/>
            <a:ext cx="6309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popcart_model.py — scenario financials &amp; payback;  build_prototype.py — the reorder prototype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4059935"/>
            <a:ext cx="4389120" cy="658368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20640" y="4059935"/>
            <a:ext cx="6556248" cy="658368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96511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ECEFF2"/>
                </a:solidFill>
                <a:latin typeface="Arial"/>
              </a:rPr>
              <a:t>Google Trends / public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85232" y="4096511"/>
            <a:ext cx="6309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Market context on TikTok Shop PH &amp; snack e-commerce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4718303"/>
            <a:ext cx="4389120" cy="658368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0640" y="4718303"/>
            <a:ext cx="6556248" cy="658368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54879"/>
            <a:ext cx="4206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ECEFF2"/>
                </a:solidFill>
                <a:latin typeface="Arial"/>
              </a:rPr>
              <a:t>[Canva / PowerPoint]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85232" y="4754879"/>
            <a:ext cx="6309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D6DBE0"/>
                </a:solidFill>
                <a:latin typeface="Arial"/>
              </a:rPr>
              <a:t>Slide design, charts, and this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513831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8A929B"/>
                </a:solidFill>
                <a:latin typeface="Arial"/>
              </a:rPr>
              <a:t>"AI was an analytical and drafting partner. Every figure was verified against the case exhibits. No output was presented as fact without human checking."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APPENDIX B — </a:t>
            </a:r>
            <a:r>
              <a:rPr sz="3100" b="1">
                <a:solidFill>
                  <a:srgbClr val="C3F53C"/>
                </a:solidFill>
                <a:latin typeface="Arial"/>
              </a:rPr>
              <a:t>THE WORKING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Every cell is a real formula — the README tab documents the math, so it's fully auditable.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79" y="2380131"/>
            <a:ext cx="11375136" cy="2646377"/>
          </a:xfrm>
          <a:prstGeom prst="roundRect">
            <a:avLst/>
          </a:prstGeom>
          <a:solidFill>
            <a:srgbClr val="16212E"/>
          </a:solidFill>
          <a:ln w="19050">
            <a:solidFill>
              <a:srgbClr val="2A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2_contro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2489859"/>
            <a:ext cx="11155680" cy="24269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207" y="4962500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8A929B"/>
                </a:solidFill>
                <a:latin typeface="Arial"/>
              </a:rPr>
              <a:t>Reorder Control Panel — forecast, safety stock, reorder point, status, suggested qty (live formulas)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54864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A929B"/>
                </a:solidFill>
                <a:latin typeface="Arial"/>
              </a:rPr>
              <a:t>Forecast/day = weighted 7/14/28-day × viral multiplier   ·   Safety stock = 1.65 × volatility × √lead-time (~95% service)   ·   Reorder point = forecast × lead-time + safety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8521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Arial"/>
              </a:rPr>
              <a:t>APPENDIX C — </a:t>
            </a:r>
            <a:r>
              <a:rPr sz="3100" b="1">
                <a:solidFill>
                  <a:srgbClr val="C3F53C"/>
                </a:solidFill>
                <a:latin typeface="Arial"/>
              </a:rPr>
              <a:t>ASSUMPTIONS &amp;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335024"/>
            <a:ext cx="1920240" cy="41148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1207" y="1508760"/>
            <a:ext cx="54864" cy="301752"/>
          </a:xfrm>
          <a:prstGeom prst="rect">
            <a:avLst/>
          </a:prstGeom>
          <a:solidFill>
            <a:srgbClr val="C3F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ECEFF2"/>
                </a:solidFill>
                <a:latin typeface="Arial"/>
              </a:rPr>
              <a:t>We'd rather show our working than hide it — here is every assumption behind the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850" b="1">
                <a:solidFill>
                  <a:srgbClr val="C3F53C"/>
                </a:solidFill>
                <a:latin typeface="Arial"/>
              </a:rPr>
              <a:t>●  </a:t>
            </a:r>
            <a:r>
              <a:rPr sz="1250">
                <a:solidFill>
                  <a:srgbClr val="D6DBE0"/>
                </a:solidFill>
                <a:latin typeface="Arial"/>
              </a:rPr>
              <a:t>AOV ₱650; 185,000 orders/yr (Assumption A/B). Blended gross margin 50% (Exhibit A).</a:t>
            </a:r>
          </a:p>
          <a:p>
            <a:pPr>
              <a:spcAft>
                <a:spcPts val="1000"/>
              </a:spcAft>
            </a:pPr>
            <a:r>
              <a:rPr sz="850" b="1">
                <a:solidFill>
                  <a:srgbClr val="C3F53C"/>
                </a:solidFill>
                <a:latin typeface="Arial"/>
              </a:rPr>
              <a:t>●  </a:t>
            </a:r>
            <a:r>
              <a:rPr sz="1250">
                <a:solidFill>
                  <a:srgbClr val="D6DBE0"/>
                </a:solidFill>
                <a:latin typeface="Arial"/>
              </a:rPr>
              <a:t>Contribution margin ~30% on recovered sales — nets out platform fees + shipping (the honest value, not 50% gross).</a:t>
            </a:r>
          </a:p>
          <a:p>
            <a:pPr>
              <a:spcAft>
                <a:spcPts val="1000"/>
              </a:spcAft>
            </a:pPr>
            <a:r>
              <a:rPr sz="850" b="1">
                <a:solidFill>
                  <a:srgbClr val="C3F53C"/>
                </a:solidFill>
                <a:latin typeface="Arial"/>
              </a:rPr>
              <a:t>●  </a:t>
            </a:r>
            <a:r>
              <a:rPr sz="1250">
                <a:solidFill>
                  <a:srgbClr val="D6DBE0"/>
                </a:solidFill>
                <a:latin typeface="Arial"/>
              </a:rPr>
              <a:t>Stockout recovery 25–60% (Assumption D); base case 42.5%.</a:t>
            </a:r>
          </a:p>
          <a:p>
            <a:pPr>
              <a:spcAft>
                <a:spcPts val="1000"/>
              </a:spcAft>
            </a:pPr>
            <a:r>
              <a:rPr sz="850" b="1">
                <a:solidFill>
                  <a:srgbClr val="C3F53C"/>
                </a:solidFill>
                <a:latin typeface="Arial"/>
              </a:rPr>
              <a:t>●  </a:t>
            </a:r>
            <a:r>
              <a:rPr sz="1250">
                <a:solidFill>
                  <a:srgbClr val="D6DBE0"/>
                </a:solidFill>
                <a:latin typeface="Arial"/>
              </a:rPr>
              <a:t>Damage loss/order ~₱480 (COGS + wasted shipping).</a:t>
            </a:r>
          </a:p>
          <a:p>
            <a:pPr>
              <a:spcAft>
                <a:spcPts val="1000"/>
              </a:spcAft>
            </a:pPr>
            <a:r>
              <a:rPr sz="850" b="1">
                <a:solidFill>
                  <a:srgbClr val="C3F53C"/>
                </a:solidFill>
                <a:latin typeface="Arial"/>
              </a:rPr>
              <a:t>●  </a:t>
            </a:r>
            <a:r>
              <a:rPr sz="1250">
                <a:solidFill>
                  <a:srgbClr val="D6DBE0"/>
                </a:solidFill>
                <a:latin typeface="Arial"/>
              </a:rPr>
              <a:t>Hub growth credited generously at 50% — we handicap the option we reject; Fix-Ops still wins.</a:t>
            </a:r>
          </a:p>
          <a:p>
            <a:pPr>
              <a:spcAft>
                <a:spcPts val="1000"/>
              </a:spcAft>
            </a:pPr>
            <a:r>
              <a:rPr sz="850" b="1">
                <a:solidFill>
                  <a:srgbClr val="C3F53C"/>
                </a:solidFill>
                <a:latin typeface="Arial"/>
              </a:rPr>
              <a:t>●  </a:t>
            </a:r>
            <a:r>
              <a:rPr sz="1250">
                <a:solidFill>
                  <a:srgbClr val="D6DBE0"/>
                </a:solidFill>
                <a:latin typeface="Arial"/>
              </a:rPr>
              <a:t>Expansion costs from Assumption C; 3-month build before benefits flow; tools at MSME low-end.</a:t>
            </a:r>
          </a:p>
          <a:p>
            <a:pPr>
              <a:spcAft>
                <a:spcPts val="1000"/>
              </a:spcAft>
            </a:pPr>
            <a:r>
              <a:rPr sz="850" b="1">
                <a:solidFill>
                  <a:srgbClr val="C3F53C"/>
                </a:solidFill>
                <a:latin typeface="Arial"/>
              </a:rPr>
              <a:t>●  </a:t>
            </a:r>
            <a:r>
              <a:rPr sz="1250">
                <a:solidFill>
                  <a:srgbClr val="D6DBE0"/>
                </a:solidFill>
                <a:latin typeface="Arial"/>
              </a:rPr>
              <a:t>Prototype daily-sales &amp; TikTok index are illustrative samples — the logic is the deliverable.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8A929B"/>
                </a:solidFill>
                <a:latin typeface="Arial"/>
              </a:rPr>
              <a:t>PopCart PH   ·   LAMBO 2026   ·   [School] · [Team]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55664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 i="0">
                <a:solidFill>
                  <a:srgbClr val="8A929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